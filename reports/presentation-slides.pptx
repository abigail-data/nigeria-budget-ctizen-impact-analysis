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9" r:id="rId4"/>
    <p:sldId id="283" r:id="rId5"/>
    <p:sldId id="276" r:id="rId6"/>
    <p:sldId id="285" r:id="rId7"/>
    <p:sldId id="286" r:id="rId8"/>
    <p:sldId id="284" r:id="rId9"/>
    <p:sldId id="287" r:id="rId10"/>
    <p:sldId id="281" r:id="rId11"/>
    <p:sldId id="275" r:id="rId12"/>
  </p:sldIdLst>
  <p:sldSz cx="18288000" cy="10287000"/>
  <p:notesSz cx="6858000" cy="9144000"/>
  <p:embeddedFontLst>
    <p:embeddedFont>
      <p:font typeface="Impact" panose="020B0806030902050204" pitchFamily="34" charset="0"/>
      <p:regular r:id="rId14"/>
    </p:embeddedFont>
    <p:embeddedFont>
      <p:font typeface="League Spartan" panose="020B0604020202020204" charset="0"/>
      <p:regular r:id="rId15"/>
    </p:embeddedFont>
    <p:embeddedFont>
      <p:font typeface="Lilita One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22" autoAdjust="0"/>
  </p:normalViewPr>
  <p:slideViewPr>
    <p:cSldViewPr>
      <p:cViewPr varScale="1">
        <p:scale>
          <a:sx n="50" d="100"/>
          <a:sy n="50" d="100"/>
        </p:scale>
        <p:origin x="974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C2A6B-D442-4E39-B614-7E75974F0500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A1D0D8-50A2-4530-B6F7-3818CD92C2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1274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A1D0D8-50A2-4530-B6F7-3818CD92C25F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02714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52679-53D0-B5E6-E188-616378128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9E41E5-77B5-0BBC-863B-74EDD737A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790884-55E2-14B2-F94A-79136506A9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F305F6-C66C-3379-F7AE-A8AD485570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A1D0D8-50A2-4530-B6F7-3818CD92C25F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0925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106C0-6BCC-D3E9-667C-DC5E2E960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959868-2DD5-1BC8-6FD6-10BE755A2D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633986-411D-59E9-C5D7-7D7A437995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B0463A-6FAC-D38E-133E-C2A5050BB4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A1D0D8-50A2-4530-B6F7-3818CD92C25F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79775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E9ECC-D9D3-0A35-D48E-F4D53348E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349539-4C7A-4194-1DAD-E57F1055AF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F09109-E14F-30C0-0033-98CC4BB4E7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5AF024-5559-F577-514C-1C6F20DFF0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A1D0D8-50A2-4530-B6F7-3818CD92C25F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95142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36B86-9665-F7BD-CE7D-75C61FFF9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9840A7-D283-0E7E-4C26-E702868D06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3C7CA9-5153-7CE2-921B-30337B8C37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ADE999-F831-AB9C-8670-771A5BD10C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A1D0D8-50A2-4530-B6F7-3818CD92C25F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3106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B0C72-77E2-A8D3-7E9A-D88719D05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D9D451-A2E2-7394-9CBE-3C4D89386C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3CEC58-11FF-5B9E-4122-EF2DA2D07C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BA4B2E-27F2-6B32-8D13-F0964AF60F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A1D0D8-50A2-4530-B6F7-3818CD92C25F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9419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37D94-5D12-AD0A-63F3-94DDF78D2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3C474F-BAF0-AD22-6C1C-9634F23F98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117376-55C2-E33F-72F3-87A9C2DA25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3BA8BF-2B97-65A5-9FFB-7ABA8591B1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A1D0D8-50A2-4530-B6F7-3818CD92C25F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41660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DE59">
                <a:alpha val="17500"/>
              </a:srgbClr>
            </a:gs>
            <a:gs pos="33333">
              <a:srgbClr val="6CBF00">
                <a:alpha val="11000"/>
              </a:srgbClr>
            </a:gs>
            <a:gs pos="66667">
              <a:srgbClr val="FDC128">
                <a:alpha val="17500"/>
              </a:srgbClr>
            </a:gs>
            <a:gs pos="100000">
              <a:srgbClr val="FF914D">
                <a:alpha val="175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 txBox="1"/>
          <p:nvPr/>
        </p:nvSpPr>
        <p:spPr>
          <a:xfrm>
            <a:off x="4953000" y="1634312"/>
            <a:ext cx="9668744" cy="4431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GB" sz="9600" b="1" dirty="0">
                <a:latin typeface="+mj-lt"/>
              </a:rPr>
              <a:t>Nigeria’s 2026 Budget: What It Means for Citizens</a:t>
            </a:r>
            <a:endParaRPr lang="en-GB" sz="9600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0D8429-9E76-F126-498B-5D40464BA3EC}"/>
              </a:ext>
            </a:extLst>
          </p:cNvPr>
          <p:cNvSpPr txBox="1"/>
          <p:nvPr/>
        </p:nvSpPr>
        <p:spPr>
          <a:xfrm>
            <a:off x="4724400" y="6896100"/>
            <a:ext cx="9448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latin typeface="+mj-lt"/>
              </a:rPr>
              <a:t>A Data-Driven Analysis of Spending, Debt, and Economic Impact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C2ADC0-DCCF-ECCB-3F05-68D33D8C72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2209799" cy="16107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12"/>
    </mc:Choice>
    <mc:Fallback xmlns="">
      <p:transition spd="slow" advTm="71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DE59">
                <a:alpha val="9000"/>
              </a:srgbClr>
            </a:gs>
            <a:gs pos="50000">
              <a:srgbClr val="B1FF4D">
                <a:alpha val="8500"/>
              </a:srgbClr>
            </a:gs>
            <a:gs pos="100000">
              <a:srgbClr val="FF914D">
                <a:alpha val="205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 txBox="1"/>
          <p:nvPr/>
        </p:nvSpPr>
        <p:spPr>
          <a:xfrm>
            <a:off x="637179" y="1049911"/>
            <a:ext cx="13235010" cy="22698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883"/>
              </a:lnSpc>
            </a:pPr>
            <a:endParaRPr lang="en-GB" sz="3200" spc="599" dirty="0">
              <a:solidFill>
                <a:srgbClr val="F41B3E"/>
              </a:solidFill>
              <a:latin typeface="Impact"/>
              <a:ea typeface="Impact"/>
              <a:cs typeface="Impact"/>
              <a:sym typeface="Impact"/>
            </a:endParaRPr>
          </a:p>
          <a:p>
            <a:pPr algn="ctr">
              <a:lnSpc>
                <a:spcPts val="5883"/>
              </a:lnSpc>
            </a:pPr>
            <a:endParaRPr lang="en-GB" sz="5400" spc="599" dirty="0">
              <a:solidFill>
                <a:srgbClr val="F41B3E"/>
              </a:solidFill>
              <a:latin typeface="Impact"/>
              <a:ea typeface="Impact"/>
              <a:cs typeface="Impact"/>
              <a:sym typeface="Impact"/>
            </a:endParaRPr>
          </a:p>
          <a:p>
            <a:pPr algn="ctr">
              <a:lnSpc>
                <a:spcPts val="5883"/>
              </a:lnSpc>
            </a:pPr>
            <a:endParaRPr lang="en-US" sz="5397" spc="599" dirty="0">
              <a:solidFill>
                <a:srgbClr val="F41B3E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6078623" y="9315450"/>
            <a:ext cx="1180677" cy="687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358"/>
              </a:lnSpc>
            </a:pPr>
            <a:r>
              <a:rPr lang="en-US" sz="4915" spc="78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576554" y="2188845"/>
            <a:ext cx="8624517" cy="5909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600" b="0">
                <a:solidFill>
                  <a:srgbClr val="232323"/>
                </a:solidFill>
              </a:defRPr>
            </a:pPr>
            <a:r>
              <a:rPr sz="2400" dirty="0">
                <a:latin typeface="Aptos" panose="020B0004020202020204" pitchFamily="34" charset="0"/>
              </a:rPr>
              <a:t>This project analyzes Nigeria’s 2026 federal budget to understand:</a:t>
            </a:r>
          </a:p>
          <a:p>
            <a:pPr>
              <a:defRPr sz="1600" b="0">
                <a:solidFill>
                  <a:srgbClr val="232323"/>
                </a:solidFill>
              </a:defRPr>
            </a:pPr>
            <a:endParaRPr sz="2400" dirty="0"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600" b="0">
                <a:solidFill>
                  <a:srgbClr val="232323"/>
                </a:solidFill>
              </a:defRPr>
            </a:pPr>
            <a:r>
              <a:rPr lang="en-US" sz="2400" dirty="0">
                <a:latin typeface="Aptos" panose="020B0004020202020204" pitchFamily="34" charset="0"/>
              </a:rPr>
              <a:t>How big is Nigeria’s 2026 budget compared with previous years?</a:t>
            </a:r>
          </a:p>
          <a:p>
            <a:pPr marL="342900" indent="-342900">
              <a:buFont typeface="Arial" panose="020B0604020202020204" pitchFamily="34" charset="0"/>
              <a:buChar char="•"/>
              <a:defRPr sz="1600" b="0">
                <a:solidFill>
                  <a:srgbClr val="232323"/>
                </a:solidFill>
              </a:defRPr>
            </a:pPr>
            <a:endParaRPr lang="en-US" sz="2400" dirty="0"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600" b="0">
                <a:solidFill>
                  <a:srgbClr val="232323"/>
                </a:solidFill>
              </a:defRPr>
            </a:pPr>
            <a:r>
              <a:rPr lang="en-US" sz="2400" dirty="0">
                <a:latin typeface="Aptos" panose="020B0004020202020204" pitchFamily="34" charset="0"/>
              </a:rPr>
              <a:t>How much of the budget goes to debt servicing?</a:t>
            </a:r>
            <a:r>
              <a:rPr sz="2400" dirty="0">
                <a:latin typeface="Aptos" panose="020B0004020202020204" pitchFamily="34" charset="0"/>
              </a:rPr>
              <a:t> </a:t>
            </a:r>
            <a:endParaRPr lang="en-GB" sz="2400" dirty="0"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600" b="0">
                <a:solidFill>
                  <a:srgbClr val="232323"/>
                </a:solidFill>
              </a:defRPr>
            </a:pPr>
            <a:endParaRPr lang="en-GB" sz="2400" dirty="0"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600" b="0">
                <a:solidFill>
                  <a:srgbClr val="232323"/>
                </a:solidFill>
              </a:defRPr>
            </a:pPr>
            <a:r>
              <a:rPr lang="en-US" sz="2400" dirty="0">
                <a:latin typeface="Aptos" panose="020B0004020202020204" pitchFamily="34" charset="0"/>
              </a:rPr>
              <a:t>Is capital spending large enough to support real development?</a:t>
            </a:r>
          </a:p>
          <a:p>
            <a:pPr marL="342900" indent="-342900">
              <a:buFont typeface="Arial" panose="020B0604020202020204" pitchFamily="34" charset="0"/>
              <a:buChar char="•"/>
              <a:defRPr sz="1600" b="0">
                <a:solidFill>
                  <a:srgbClr val="232323"/>
                </a:solidFill>
              </a:defRPr>
            </a:pPr>
            <a:endParaRPr lang="en-US" sz="2400" dirty="0"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600" b="0">
                <a:solidFill>
                  <a:srgbClr val="232323"/>
                </a:solidFill>
              </a:defRPr>
            </a:pPr>
            <a:r>
              <a:rPr lang="en-US" sz="2400" dirty="0">
                <a:latin typeface="Aptos" panose="020B0004020202020204" pitchFamily="34" charset="0"/>
              </a:rPr>
              <a:t>Can projected revenue realistically fund the budget?</a:t>
            </a:r>
            <a:endParaRPr lang="en-US" sz="1600" dirty="0"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600" b="0">
                <a:solidFill>
                  <a:srgbClr val="232323"/>
                </a:solidFill>
              </a:defRPr>
            </a:pPr>
            <a:endParaRPr lang="en-US" sz="2400" dirty="0"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600" b="0">
                <a:solidFill>
                  <a:srgbClr val="232323"/>
                </a:solidFill>
              </a:defRPr>
            </a:pPr>
            <a:r>
              <a:rPr lang="en-US" sz="2400" dirty="0">
                <a:latin typeface="Aptos" panose="020B0004020202020204" pitchFamily="34" charset="0"/>
              </a:rPr>
              <a:t>What does the budget mean for ordinary Nigerians after inflation?</a:t>
            </a:r>
          </a:p>
          <a:p>
            <a:pPr marL="342900" indent="-342900">
              <a:buFont typeface="Arial" panose="020B0604020202020204" pitchFamily="34" charset="0"/>
              <a:buChar char="•"/>
              <a:defRPr sz="1600" b="0">
                <a:solidFill>
                  <a:srgbClr val="232323"/>
                </a:solidFill>
              </a:defRPr>
            </a:pPr>
            <a:endParaRPr lang="en-US" sz="2400" dirty="0"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600" b="0">
                <a:solidFill>
                  <a:srgbClr val="232323"/>
                </a:solidFill>
              </a:defRPr>
            </a:pPr>
            <a:r>
              <a:rPr lang="en-US" sz="2400" dirty="0">
                <a:latin typeface="Aptos" panose="020B0004020202020204" pitchFamily="34" charset="0"/>
              </a:rPr>
              <a:t>Are health, education, jobs, and poverty receiving enough attention?</a:t>
            </a:r>
            <a:endParaRPr sz="2400" dirty="0"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DCE724-8ABE-DADF-A950-379ED4316503}"/>
              </a:ext>
            </a:extLst>
          </p:cNvPr>
          <p:cNvSpPr txBox="1"/>
          <p:nvPr/>
        </p:nvSpPr>
        <p:spPr>
          <a:xfrm>
            <a:off x="4576554" y="721198"/>
            <a:ext cx="76686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400" b="1" dirty="0">
                <a:latin typeface="Calibri" panose="020F0502020204030204" pitchFamily="34" charset="0"/>
                <a:cs typeface="Calibri" panose="020F0502020204030204" pitchFamily="34" charset="0"/>
              </a:rPr>
              <a:t>Overview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3"/>
    </mc:Choice>
    <mc:Fallback xmlns="">
      <p:transition spd="slow" advTm="26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DE59">
                <a:alpha val="9000"/>
              </a:srgbClr>
            </a:gs>
            <a:gs pos="50000">
              <a:srgbClr val="B1FF4D">
                <a:alpha val="8500"/>
              </a:srgbClr>
            </a:gs>
            <a:gs pos="100000">
              <a:srgbClr val="FF914D">
                <a:alpha val="205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824903">
            <a:off x="16803562" y="8379790"/>
            <a:ext cx="490919" cy="704976"/>
          </a:xfrm>
          <a:custGeom>
            <a:avLst/>
            <a:gdLst/>
            <a:ahLst/>
            <a:cxnLst/>
            <a:rect l="l" t="t" r="r" b="b"/>
            <a:pathLst>
              <a:path w="490919" h="704976">
                <a:moveTo>
                  <a:pt x="0" y="0"/>
                </a:moveTo>
                <a:lnTo>
                  <a:pt x="490919" y="0"/>
                </a:lnTo>
                <a:lnTo>
                  <a:pt x="490919" y="704975"/>
                </a:lnTo>
                <a:lnTo>
                  <a:pt x="0" y="7049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TextBox 3"/>
          <p:cNvSpPr txBox="1"/>
          <p:nvPr/>
        </p:nvSpPr>
        <p:spPr>
          <a:xfrm>
            <a:off x="1143000" y="2552700"/>
            <a:ext cx="6839496" cy="347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>
              <a:lnSpc>
                <a:spcPts val="392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latin typeface="Aptos" panose="020B0004020202020204" pitchFamily="34" charset="0"/>
              </a:rPr>
              <a:t>Budget Office of the Federation (Nigeria)</a:t>
            </a:r>
          </a:p>
          <a:p>
            <a:pPr marL="571500" indent="-571500">
              <a:lnSpc>
                <a:spcPts val="3920"/>
              </a:lnSpc>
              <a:buFont typeface="Arial" panose="020B0604020202020204" pitchFamily="34" charset="0"/>
              <a:buChar char="•"/>
            </a:pPr>
            <a:endParaRPr lang="en-GB" sz="2800" dirty="0">
              <a:latin typeface="Aptos" panose="020B0004020202020204" pitchFamily="34" charset="0"/>
            </a:endParaRPr>
          </a:p>
          <a:p>
            <a:pPr marL="571500" indent="-571500">
              <a:lnSpc>
                <a:spcPts val="392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latin typeface="Aptos" panose="020B0004020202020204" pitchFamily="34" charset="0"/>
              </a:rPr>
              <a:t>National Bureau of Statistics (NBS)</a:t>
            </a:r>
          </a:p>
          <a:p>
            <a:pPr marL="571500" indent="-571500">
              <a:lnSpc>
                <a:spcPts val="3920"/>
              </a:lnSpc>
              <a:buFont typeface="Arial" panose="020B0604020202020204" pitchFamily="34" charset="0"/>
              <a:buChar char="•"/>
            </a:pPr>
            <a:endParaRPr lang="en-GB" sz="2800" dirty="0">
              <a:latin typeface="Aptos" panose="020B0004020202020204" pitchFamily="34" charset="0"/>
            </a:endParaRPr>
          </a:p>
          <a:p>
            <a:pPr marL="571500" indent="-571500">
              <a:lnSpc>
                <a:spcPts val="392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latin typeface="Aptos" panose="020B0004020202020204" pitchFamily="34" charset="0"/>
              </a:rPr>
              <a:t>World Bank Indicators</a:t>
            </a:r>
          </a:p>
          <a:p>
            <a:pPr marL="571500" indent="-571500">
              <a:lnSpc>
                <a:spcPts val="3920"/>
              </a:lnSpc>
              <a:buFont typeface="Arial" panose="020B0604020202020204" pitchFamily="34" charset="0"/>
              <a:buChar char="•"/>
            </a:pPr>
            <a:endParaRPr lang="en-GB" sz="2800" dirty="0">
              <a:latin typeface="Aptos" panose="020B0004020202020204" pitchFamily="34" charset="0"/>
            </a:endParaRPr>
          </a:p>
          <a:p>
            <a:pPr marL="571500" indent="-571500">
              <a:lnSpc>
                <a:spcPts val="392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latin typeface="Aptos" panose="020B0004020202020204" pitchFamily="34" charset="0"/>
              </a:rPr>
              <a:t>Debt Management Office (DMO)</a:t>
            </a:r>
            <a:endParaRPr lang="en-US" sz="2800" b="1" dirty="0">
              <a:solidFill>
                <a:srgbClr val="000000"/>
              </a:solidFill>
              <a:latin typeface="Aptos" panose="020B0004020202020204" pitchFamily="34" charset="0"/>
              <a:ea typeface="Asap Bold"/>
              <a:cs typeface="Asap Bold"/>
              <a:sym typeface="Asap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629400" y="419100"/>
            <a:ext cx="7610748" cy="7566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3"/>
              </a:lnSpc>
            </a:pPr>
            <a:r>
              <a:rPr lang="en-US" sz="5397" b="1" spc="599" dirty="0">
                <a:latin typeface="Calibri" panose="020F0502020204030204" pitchFamily="34" charset="0"/>
                <a:ea typeface="Impact"/>
                <a:cs typeface="Calibri" panose="020F0502020204030204" pitchFamily="34" charset="0"/>
                <a:sym typeface="Impact"/>
              </a:rPr>
              <a:t>Data Sources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078623" y="9315450"/>
            <a:ext cx="1180677" cy="687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358"/>
              </a:lnSpc>
            </a:pPr>
            <a:r>
              <a:rPr lang="en-US" sz="4915" spc="78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818579" y="2324100"/>
            <a:ext cx="6839496" cy="6155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600" b="0">
                <a:solidFill>
                  <a:srgbClr val="232323"/>
                </a:solidFill>
              </a:defRPr>
            </a:pPr>
            <a:r>
              <a:rPr sz="3200" dirty="0">
                <a:latin typeface="Lilita One" panose="020B0604020202020204" charset="0"/>
              </a:rPr>
              <a:t>Key variables:</a:t>
            </a:r>
          </a:p>
          <a:p>
            <a:pPr>
              <a:defRPr sz="1600" b="0">
                <a:solidFill>
                  <a:srgbClr val="232323"/>
                </a:solidFill>
              </a:defRPr>
            </a:pPr>
            <a:endParaRPr sz="3200" dirty="0">
              <a:latin typeface="Lilita One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  <a:defRPr sz="1600" b="0">
                <a:solidFill>
                  <a:srgbClr val="232323"/>
                </a:solidFill>
              </a:defRPr>
            </a:pPr>
            <a:r>
              <a:rPr sz="2800" dirty="0">
                <a:latin typeface="Aptos" panose="020B0004020202020204" pitchFamily="34" charset="0"/>
              </a:rPr>
              <a:t>Total Budget</a:t>
            </a:r>
            <a:endParaRPr lang="en-GB" sz="2800" dirty="0">
              <a:latin typeface="Aptos" panose="020B00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  <a:defRPr sz="1600" b="0">
                <a:solidFill>
                  <a:srgbClr val="232323"/>
                </a:solidFill>
              </a:defRPr>
            </a:pPr>
            <a:endParaRPr sz="2800" dirty="0">
              <a:latin typeface="Aptos" panose="020B00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  <a:defRPr sz="1600" b="0">
                <a:solidFill>
                  <a:srgbClr val="232323"/>
                </a:solidFill>
              </a:defRPr>
            </a:pPr>
            <a:r>
              <a:rPr sz="2800" dirty="0">
                <a:latin typeface="Aptos" panose="020B0004020202020204" pitchFamily="34" charset="0"/>
              </a:rPr>
              <a:t>Debt Servicing</a:t>
            </a:r>
            <a:endParaRPr lang="en-GB" sz="2800" dirty="0">
              <a:latin typeface="Aptos" panose="020B00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  <a:defRPr sz="1600" b="0">
                <a:solidFill>
                  <a:srgbClr val="232323"/>
                </a:solidFill>
              </a:defRPr>
            </a:pPr>
            <a:endParaRPr sz="2800" dirty="0">
              <a:latin typeface="Aptos" panose="020B00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  <a:defRPr sz="1600" b="0">
                <a:solidFill>
                  <a:srgbClr val="232323"/>
                </a:solidFill>
              </a:defRPr>
            </a:pPr>
            <a:r>
              <a:rPr sz="2800" dirty="0">
                <a:latin typeface="Aptos" panose="020B0004020202020204" pitchFamily="34" charset="0"/>
              </a:rPr>
              <a:t>Capital vs Recurrent Spending</a:t>
            </a:r>
            <a:endParaRPr lang="en-GB" sz="2800" dirty="0">
              <a:latin typeface="Aptos" panose="020B00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  <a:defRPr sz="1600" b="0">
                <a:solidFill>
                  <a:srgbClr val="232323"/>
                </a:solidFill>
              </a:defRPr>
            </a:pPr>
            <a:endParaRPr sz="2800" dirty="0">
              <a:latin typeface="Aptos" panose="020B00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  <a:defRPr sz="1600" b="0">
                <a:solidFill>
                  <a:srgbClr val="232323"/>
                </a:solidFill>
              </a:defRPr>
            </a:pPr>
            <a:r>
              <a:rPr sz="2800" dirty="0">
                <a:latin typeface="Aptos" panose="020B0004020202020204" pitchFamily="34" charset="0"/>
              </a:rPr>
              <a:t>Revenue Projection and Funding Gap</a:t>
            </a:r>
            <a:endParaRPr lang="en-GB" sz="2800" dirty="0">
              <a:latin typeface="Aptos" panose="020B00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  <a:defRPr sz="1600" b="0">
                <a:solidFill>
                  <a:srgbClr val="232323"/>
                </a:solidFill>
              </a:defRPr>
            </a:pPr>
            <a:endParaRPr sz="2800" dirty="0">
              <a:latin typeface="Aptos" panose="020B00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  <a:defRPr sz="1600" b="0">
                <a:solidFill>
                  <a:srgbClr val="232323"/>
                </a:solidFill>
              </a:defRPr>
            </a:pPr>
            <a:r>
              <a:rPr sz="2800" dirty="0">
                <a:latin typeface="Aptos" panose="020B0004020202020204" pitchFamily="34" charset="0"/>
              </a:rPr>
              <a:t>Headline and Food Inflation</a:t>
            </a:r>
            <a:endParaRPr lang="en-GB" sz="2800" dirty="0">
              <a:latin typeface="Aptos" panose="020B00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  <a:defRPr sz="1600" b="0">
                <a:solidFill>
                  <a:srgbClr val="232323"/>
                </a:solidFill>
              </a:defRPr>
            </a:pPr>
            <a:endParaRPr sz="2800" dirty="0">
              <a:latin typeface="Aptos" panose="020B00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  <a:defRPr sz="1600" b="0">
                <a:solidFill>
                  <a:srgbClr val="232323"/>
                </a:solidFill>
              </a:defRPr>
            </a:pPr>
            <a:r>
              <a:rPr sz="2800" dirty="0">
                <a:latin typeface="Aptos" panose="020B0004020202020204" pitchFamily="34" charset="0"/>
              </a:rPr>
              <a:t>Health, Education, Jobs and Poverty Indicators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0"/>
    </mc:Choice>
    <mc:Fallback xmlns="">
      <p:transition spd="slow" advTm="26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497541" y="190499"/>
            <a:ext cx="5231074" cy="12191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 dirty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Nigeria’s Budget Growth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 spc="599" dirty="0">
              <a:solidFill>
                <a:schemeClr val="tx1"/>
              </a:solidFill>
              <a:latin typeface="Impact" panose="020B0806030902050204" pitchFamily="34" charset="0"/>
              <a:ea typeface="+mj-ea"/>
              <a:cs typeface="+mj-cs"/>
              <a:sym typeface="Impac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304E2F-EB83-E998-0BCF-FDD8389D3D44}"/>
              </a:ext>
            </a:extLst>
          </p:cNvPr>
          <p:cNvSpPr txBox="1"/>
          <p:nvPr/>
        </p:nvSpPr>
        <p:spPr>
          <a:xfrm>
            <a:off x="485131" y="3666565"/>
            <a:ext cx="5143500" cy="257555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Nigeria’s federal budget has grown   significantly from </a:t>
            </a:r>
            <a:r>
              <a:rPr lang="en-US" sz="2400" b="1" dirty="0"/>
              <a:t>₦13T </a:t>
            </a:r>
            <a:r>
              <a:rPr lang="en-US" sz="2400" dirty="0"/>
              <a:t>in 2021 to </a:t>
            </a:r>
            <a:r>
              <a:rPr lang="en-US" sz="2400" b="1" dirty="0"/>
              <a:t>₦58T </a:t>
            </a:r>
            <a:r>
              <a:rPr lang="en-US" sz="2400" dirty="0"/>
              <a:t>in 2026.</a:t>
            </a:r>
          </a:p>
          <a:p>
            <a:pPr>
              <a:defRPr sz="1800" b="0">
                <a:solidFill>
                  <a:srgbClr val="232323"/>
                </a:solidFill>
              </a:defRPr>
            </a:pPr>
            <a:endParaRPr sz="2400" dirty="0">
              <a:latin typeface="Lilita One" panose="020B0604020202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800" b="0">
                <a:solidFill>
                  <a:srgbClr val="232323"/>
                </a:solidFill>
              </a:defRPr>
            </a:pPr>
            <a:r>
              <a:rPr sz="2400" dirty="0">
                <a:latin typeface="+mj-lt"/>
              </a:rPr>
              <a:t>The</a:t>
            </a:r>
            <a:r>
              <a:rPr sz="2400" dirty="0">
                <a:latin typeface="Lilita One" panose="020B0604020202020204" charset="0"/>
              </a:rPr>
              <a:t> 2026 </a:t>
            </a:r>
            <a:r>
              <a:rPr sz="2400" dirty="0">
                <a:latin typeface="Aptos" panose="020B0004020202020204" pitchFamily="34" charset="0"/>
              </a:rPr>
              <a:t>budget is </a:t>
            </a:r>
            <a:r>
              <a:rPr sz="2400" dirty="0">
                <a:latin typeface="Lilita One" panose="020B0604020202020204" charset="0"/>
              </a:rPr>
              <a:t>over 4 times larger </a:t>
            </a:r>
            <a:r>
              <a:rPr sz="2400" dirty="0">
                <a:latin typeface="+mj-lt"/>
              </a:rPr>
              <a:t>than the</a:t>
            </a:r>
            <a:r>
              <a:rPr sz="2400" dirty="0">
                <a:latin typeface="Lilita One" panose="020B0604020202020204" charset="0"/>
              </a:rPr>
              <a:t> 2021 budget.</a:t>
            </a:r>
          </a:p>
          <a:p>
            <a:pPr>
              <a:defRPr sz="1800" b="0">
                <a:solidFill>
                  <a:srgbClr val="232323"/>
                </a:solidFill>
              </a:defRPr>
            </a:pPr>
            <a:endParaRPr lang="en-US" sz="2400" dirty="0">
              <a:latin typeface="Lilita One" panose="020B060402020202020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FFC92E8-7F17-4F31-0EE8-57A9FB7F4D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8837" y="114301"/>
            <a:ext cx="12129163" cy="9753600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304800" y="7211211"/>
            <a:ext cx="5231074" cy="2575560"/>
          </a:xfrm>
          <a:prstGeom prst="roundRect">
            <a:avLst/>
          </a:prstGeom>
          <a:solidFill>
            <a:srgbClr val="2F7D55"/>
          </a:solidFill>
          <a:ln>
            <a:solidFill>
              <a:srgbClr val="195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2400" dirty="0"/>
              <a:t>INSIGHT</a:t>
            </a:r>
            <a:endParaRPr lang="en-GB" sz="2400" dirty="0"/>
          </a:p>
          <a:p>
            <a:pPr algn="ctr">
              <a:defRPr sz="1500" b="1">
                <a:solidFill>
                  <a:srgbClr val="FFFFFF"/>
                </a:solidFill>
              </a:defRPr>
            </a:pPr>
            <a:endParaRPr lang="en-US" sz="2400" dirty="0"/>
          </a:p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lang="en-GB" sz="2400" dirty="0"/>
              <a:t>2026 is the largest in Nigeria’s history but impact depends on where the money goes..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32974" y="1409698"/>
            <a:ext cx="3352800" cy="1523999"/>
          </a:xfrm>
          <a:prstGeom prst="roundRect">
            <a:avLst/>
          </a:prstGeom>
          <a:noFill/>
          <a:ln>
            <a:solidFill>
              <a:srgbClr val="145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1: How big is Nigeria’s 2026 budget compared with previous years?</a:t>
            </a:r>
          </a:p>
        </p:txBody>
      </p:sp>
    </p:spTree>
    <p:extLst>
      <p:ext uri="{BB962C8B-B14F-4D97-AF65-F5344CB8AC3E}">
        <p14:creationId xmlns:p14="http://schemas.microsoft.com/office/powerpoint/2010/main" val="836479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24"/>
    </mc:Choice>
    <mc:Fallback xmlns="">
      <p:transition spd="slow" advTm="1124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2E4740-1A09-07C2-A5F7-C748591C7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1" name="Freeform: Shape 50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683509" cy="10287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52" name="Freeform: Shape 51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669793" cy="10287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F323638-7435-45F7-2542-2B5268943C21}"/>
              </a:ext>
            </a:extLst>
          </p:cNvPr>
          <p:cNvSpPr txBox="1"/>
          <p:nvPr/>
        </p:nvSpPr>
        <p:spPr>
          <a:xfrm>
            <a:off x="415531" y="445435"/>
            <a:ext cx="5157216" cy="6096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GB" sz="3600" b="1" dirty="0">
                <a:latin typeface="Calibri" panose="020F0502020204030204" pitchFamily="34" charset="0"/>
                <a:cs typeface="Calibri" panose="020F0502020204030204" pitchFamily="34" charset="0"/>
              </a:rPr>
              <a:t>Debt Before Development</a:t>
            </a:r>
            <a:endParaRPr lang="en-US" sz="3600" b="1" kern="1200" spc="599" dirty="0">
              <a:solidFill>
                <a:schemeClr val="tx1"/>
              </a:solidFill>
              <a:latin typeface="Calibri" panose="020F0502020204030204" pitchFamily="34" charset="0"/>
              <a:ea typeface="+mj-ea"/>
              <a:cs typeface="Calibri" panose="020F0502020204030204" pitchFamily="34" charset="0"/>
              <a:sym typeface="Impact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139819"/>
            <a:ext cx="192024" cy="98085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3839" y="3665220"/>
            <a:ext cx="5074920" cy="27432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17663E-BC6D-F11F-6678-DC55968A37AD}"/>
              </a:ext>
            </a:extLst>
          </p:cNvPr>
          <p:cNvSpPr txBox="1"/>
          <p:nvPr/>
        </p:nvSpPr>
        <p:spPr>
          <a:xfrm>
            <a:off x="862063" y="3309870"/>
            <a:ext cx="4624337" cy="38148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defRPr sz="1800" b="0">
                <a:solidFill>
                  <a:srgbClr val="232323"/>
                </a:solidFill>
              </a:defRPr>
            </a:pPr>
            <a:r>
              <a:rPr sz="2400" dirty="0">
                <a:latin typeface="+mj-lt"/>
              </a:rPr>
              <a:t>• Debt servicing accounts for about </a:t>
            </a:r>
            <a:r>
              <a:rPr sz="2400" dirty="0">
                <a:latin typeface="Lilita One" panose="020B0604020202020204" charset="0"/>
              </a:rPr>
              <a:t>23% </a:t>
            </a:r>
            <a:r>
              <a:rPr sz="2400" dirty="0">
                <a:latin typeface="+mj-lt"/>
              </a:rPr>
              <a:t>of the adjusted </a:t>
            </a:r>
            <a:r>
              <a:rPr sz="2400" dirty="0">
                <a:latin typeface="Lilita One" panose="020B0604020202020204" charset="0"/>
              </a:rPr>
              <a:t>2026 budget</a:t>
            </a:r>
            <a:endParaRPr lang="en-GB" sz="2400" dirty="0">
              <a:latin typeface="Lilita One" panose="020B0604020202020204" charset="0"/>
            </a:endParaRPr>
          </a:p>
          <a:p>
            <a:pPr>
              <a:defRPr sz="1800" b="0">
                <a:solidFill>
                  <a:srgbClr val="232323"/>
                </a:solidFill>
              </a:defRPr>
            </a:pPr>
            <a:endParaRPr sz="2400" dirty="0">
              <a:latin typeface="Lilita One" panose="020B0604020202020204" charset="0"/>
            </a:endParaRPr>
          </a:p>
          <a:p>
            <a:pPr>
              <a:defRPr sz="1800" b="0">
                <a:solidFill>
                  <a:srgbClr val="232323"/>
                </a:solidFill>
              </a:defRPr>
            </a:pPr>
            <a:r>
              <a:rPr sz="2400" dirty="0">
                <a:latin typeface="Lilita One" panose="020B0604020202020204" charset="0"/>
              </a:rPr>
              <a:t>• 1 </a:t>
            </a:r>
            <a:r>
              <a:rPr sz="2400" dirty="0">
                <a:latin typeface="+mj-lt"/>
              </a:rPr>
              <a:t>out of every </a:t>
            </a:r>
            <a:r>
              <a:rPr sz="2400" dirty="0">
                <a:latin typeface="Lilita One" panose="020B0604020202020204" charset="0"/>
              </a:rPr>
              <a:t>4 naira </a:t>
            </a:r>
            <a:r>
              <a:rPr sz="2400" dirty="0">
                <a:latin typeface="+mj-lt"/>
              </a:rPr>
              <a:t>is used to pay old debt</a:t>
            </a:r>
            <a:endParaRPr lang="en-GB" sz="2400" dirty="0">
              <a:latin typeface="+mj-lt"/>
            </a:endParaRPr>
          </a:p>
          <a:p>
            <a:pPr>
              <a:defRPr sz="1800" b="0">
                <a:solidFill>
                  <a:srgbClr val="232323"/>
                </a:solidFill>
              </a:defRPr>
            </a:pPr>
            <a:endParaRPr sz="2400" dirty="0">
              <a:latin typeface="Lilita One" panose="020B0604020202020204" charset="0"/>
            </a:endParaRPr>
          </a:p>
          <a:p>
            <a:pPr>
              <a:defRPr sz="1800" b="0">
                <a:solidFill>
                  <a:srgbClr val="232323"/>
                </a:solidFill>
              </a:defRPr>
            </a:pPr>
            <a:r>
              <a:rPr sz="2400" dirty="0">
                <a:latin typeface="Lilita One" panose="020B0604020202020204" charset="0"/>
              </a:rPr>
              <a:t>• </a:t>
            </a:r>
            <a:r>
              <a:rPr sz="2400" dirty="0">
                <a:latin typeface="+mj-lt"/>
              </a:rPr>
              <a:t>Debt obligations come before new roads, hospitals, schools and jobs</a:t>
            </a:r>
          </a:p>
          <a:p>
            <a:pPr>
              <a:defRPr sz="1800" b="0">
                <a:solidFill>
                  <a:srgbClr val="232323"/>
                </a:solidFill>
              </a:defRPr>
            </a:pPr>
            <a:endParaRPr sz="2400" dirty="0">
              <a:latin typeface="Lilita One" panose="020B060402020202020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197910-5D94-5CAB-EA07-23BD92C413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8016" y="717606"/>
            <a:ext cx="11349983" cy="8616894"/>
          </a:xfrm>
          <a:prstGeom prst="rect">
            <a:avLst/>
          </a:prstGeom>
        </p:spPr>
      </p:pic>
      <p:sp>
        <p:nvSpPr>
          <p:cNvPr id="55" name="Rounded Rectangle 54"/>
          <p:cNvSpPr/>
          <p:nvPr/>
        </p:nvSpPr>
        <p:spPr>
          <a:xfrm>
            <a:off x="161544" y="7380732"/>
            <a:ext cx="5431536" cy="2535936"/>
          </a:xfrm>
          <a:prstGeom prst="roundRect">
            <a:avLst>
              <a:gd name="adj" fmla="val 50000"/>
            </a:avLst>
          </a:prstGeom>
          <a:solidFill>
            <a:srgbClr val="2F7D55"/>
          </a:solidFill>
          <a:ln>
            <a:solidFill>
              <a:srgbClr val="195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endParaRPr lang="en-GB" sz="2400" dirty="0"/>
          </a:p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2400" dirty="0"/>
              <a:t>INSIGHT</a:t>
            </a:r>
            <a:endParaRPr lang="en-GB" sz="2400" dirty="0"/>
          </a:p>
          <a:p>
            <a:pPr algn="ctr">
              <a:defRPr sz="1500" b="1">
                <a:solidFill>
                  <a:srgbClr val="FFFFFF"/>
                </a:solidFill>
              </a:defRPr>
            </a:pPr>
            <a:br>
              <a:rPr lang="en-GB" sz="2400" dirty="0"/>
            </a:br>
            <a:r>
              <a:rPr lang="en-GB" sz="2400" dirty="0"/>
              <a:t>Debt servicing seriously limit citizen-focused spending</a:t>
            </a:r>
          </a:p>
          <a:p>
            <a:pPr algn="ctr">
              <a:defRPr sz="1500" b="1">
                <a:solidFill>
                  <a:srgbClr val="FFFFFF"/>
                </a:solidFill>
              </a:defRPr>
            </a:pPr>
            <a:endParaRPr sz="2400" dirty="0"/>
          </a:p>
        </p:txBody>
      </p:sp>
      <p:sp>
        <p:nvSpPr>
          <p:cNvPr id="56" name="Rounded Rectangle 55"/>
          <p:cNvSpPr/>
          <p:nvPr/>
        </p:nvSpPr>
        <p:spPr>
          <a:xfrm>
            <a:off x="880206" y="1433972"/>
            <a:ext cx="4083698" cy="1468876"/>
          </a:xfrm>
          <a:prstGeom prst="roundRect">
            <a:avLst/>
          </a:prstGeom>
          <a:noFill/>
          <a:ln>
            <a:solidFill>
              <a:srgbClr val="145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2: How much of the budget goes to debt servicing?</a:t>
            </a:r>
          </a:p>
        </p:txBody>
      </p:sp>
    </p:spTree>
    <p:extLst>
      <p:ext uri="{BB962C8B-B14F-4D97-AF65-F5344CB8AC3E}">
        <p14:creationId xmlns:p14="http://schemas.microsoft.com/office/powerpoint/2010/main" val="4131397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24"/>
    </mc:Choice>
    <mc:Fallback xmlns="">
      <p:transition spd="slow" advTm="1124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D1BF9-5020-1B1D-8DF3-8570ACE7F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EC85B912-8D53-7038-EE2F-B1F973F960F7}"/>
              </a:ext>
            </a:extLst>
          </p:cNvPr>
          <p:cNvSpPr txBox="1"/>
          <p:nvPr/>
        </p:nvSpPr>
        <p:spPr>
          <a:xfrm>
            <a:off x="166914" y="167642"/>
            <a:ext cx="6096000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 dirty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Development or Government Survival?</a:t>
            </a:r>
            <a:endParaRPr lang="en-US" sz="3600" b="1" kern="1200" spc="599" dirty="0">
              <a:solidFill>
                <a:schemeClr val="tx1"/>
              </a:solidFill>
              <a:latin typeface="Calibri" panose="020F0502020204030204" pitchFamily="34" charset="0"/>
              <a:ea typeface="+mj-ea"/>
              <a:cs typeface="Calibri" panose="020F0502020204030204" pitchFamily="34" charset="0"/>
              <a:sym typeface="Impac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140B7C-CB71-E1C0-0F74-455A1665A176}"/>
              </a:ext>
            </a:extLst>
          </p:cNvPr>
          <p:cNvSpPr txBox="1"/>
          <p:nvPr/>
        </p:nvSpPr>
        <p:spPr>
          <a:xfrm>
            <a:off x="651701" y="3139438"/>
            <a:ext cx="5539359" cy="350520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Recurrent expenditure takes a large share of the budget.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This means more money is used to run government operations rather than invest in long-term development.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This limits infrastructure growth and job creation.</a:t>
            </a:r>
          </a:p>
          <a:p>
            <a:pPr>
              <a:defRPr sz="1800" b="0">
                <a:solidFill>
                  <a:srgbClr val="232323"/>
                </a:solidFill>
              </a:defRPr>
            </a:pPr>
            <a:endParaRPr sz="2400" dirty="0">
              <a:latin typeface="Lilita One" panose="020B060402020202020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20D23B-770E-4787-9840-A368181688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028700"/>
            <a:ext cx="11277600" cy="6025243"/>
          </a:xfrm>
          <a:prstGeom prst="rect">
            <a:avLst/>
          </a:prstGeom>
        </p:spPr>
      </p:pic>
      <p:sp>
        <p:nvSpPr>
          <p:cNvPr id="81" name="Rounded Rectangle 80"/>
          <p:cNvSpPr/>
          <p:nvPr/>
        </p:nvSpPr>
        <p:spPr>
          <a:xfrm>
            <a:off x="533400" y="7482835"/>
            <a:ext cx="4800600" cy="2209800"/>
          </a:xfrm>
          <a:prstGeom prst="roundRect">
            <a:avLst/>
          </a:prstGeom>
          <a:solidFill>
            <a:srgbClr val="2F7D55"/>
          </a:solidFill>
          <a:ln>
            <a:solidFill>
              <a:srgbClr val="195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2400" dirty="0"/>
              <a:t>INSIGHT</a:t>
            </a:r>
            <a:endParaRPr lang="en-GB" sz="2400" dirty="0"/>
          </a:p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2400" dirty="0"/>
              <a:t> </a:t>
            </a:r>
            <a:endParaRPr lang="en-GB" sz="2400" dirty="0"/>
          </a:p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lang="en-GB" sz="2400" dirty="0"/>
              <a:t>Capital spending is significant, but not enough on its own to guarantee real development.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56183" y="1463040"/>
            <a:ext cx="4800600" cy="1143002"/>
          </a:xfrm>
          <a:prstGeom prst="roundRect">
            <a:avLst/>
          </a:prstGeom>
          <a:noFill/>
          <a:ln>
            <a:solidFill>
              <a:srgbClr val="145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3: Is capital spending large enough to support real development?</a:t>
            </a:r>
          </a:p>
        </p:txBody>
      </p:sp>
    </p:spTree>
    <p:extLst>
      <p:ext uri="{BB962C8B-B14F-4D97-AF65-F5344CB8AC3E}">
        <p14:creationId xmlns:p14="http://schemas.microsoft.com/office/powerpoint/2010/main" val="1524901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24"/>
    </mc:Choice>
    <mc:Fallback xmlns="">
      <p:transition spd="slow" advTm="1124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A8B6BA-1D46-76D9-DD81-7584522D6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45698A6B-6E12-9717-975D-D800BED0F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 useBgFill="1">
        <p:nvSpPr>
          <p:cNvPr id="74" name="Freeform: Shape 73">
            <a:extLst>
              <a:ext uri="{FF2B5EF4-FFF2-40B4-BE49-F238E27FC236}">
                <a16:creationId xmlns:a16="http://schemas.microsoft.com/office/drawing/2014/main" id="{0176244C-1FB6-0FF4-F5E6-104D04AC5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683509" cy="10287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76" name="Freeform: Shape 75">
            <a:extLst>
              <a:ext uri="{FF2B5EF4-FFF2-40B4-BE49-F238E27FC236}">
                <a16:creationId xmlns:a16="http://schemas.microsoft.com/office/drawing/2014/main" id="{8143A853-5E05-4D1F-B4B6-1821D16045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669793" cy="10287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2154E6C-C493-33DF-5150-C5D39CE46808}"/>
              </a:ext>
            </a:extLst>
          </p:cNvPr>
          <p:cNvSpPr txBox="1"/>
          <p:nvPr/>
        </p:nvSpPr>
        <p:spPr>
          <a:xfrm>
            <a:off x="535577" y="305979"/>
            <a:ext cx="4790373" cy="990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Revenue vs Spending</a:t>
            </a:r>
            <a:endParaRPr kumimoji="0" lang="en-US" sz="3600" b="1" i="0" u="none" strike="noStrike" kern="1200" cap="none" spc="599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Impact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2A79BA08-7ACB-C978-5EA2-4FAF23176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93839" y="908685"/>
            <a:ext cx="109728" cy="822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F667DF-9907-EBC3-6186-CA6AB321E634}"/>
              </a:ext>
            </a:extLst>
          </p:cNvPr>
          <p:cNvSpPr txBox="1"/>
          <p:nvPr/>
        </p:nvSpPr>
        <p:spPr>
          <a:xfrm>
            <a:off x="632841" y="3314702"/>
            <a:ext cx="5158359" cy="28955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232323"/>
                </a:solidFill>
              </a:defRPr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Lilita One" panose="020B0604020202020204" charset="0"/>
              </a:rPr>
              <a:t>•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+mj-lt"/>
              </a:rPr>
              <a:t>Revenue covers less than half of planned expenditure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232323"/>
              </a:solidFill>
              <a:effectLst/>
              <a:uLnTx/>
              <a:uFillTx/>
              <a:latin typeface="+mj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232323"/>
                </a:solidFill>
              </a:defRPr>
            </a:pP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232323"/>
              </a:solidFill>
              <a:effectLst/>
              <a:uLnTx/>
              <a:uFillTx/>
              <a:latin typeface="Lilita One" panose="020B06040202020202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232323"/>
                </a:solidFill>
              </a:defRPr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Lilita One" panose="020B0604020202020204" charset="0"/>
              </a:rPr>
              <a:t>•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+mj-lt"/>
              </a:rPr>
              <a:t>The funding gap means the budget depends heavily on borrowing and deficit financing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232323"/>
                </a:solidFill>
              </a:defRPr>
            </a:pP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232323"/>
              </a:solidFill>
              <a:effectLst/>
              <a:uLnTx/>
              <a:uFillTx/>
              <a:latin typeface="Lilita One" panose="020B060402020202020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F42F03-D86B-3A26-1039-A92BEC06DD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00" y="1028700"/>
            <a:ext cx="11125200" cy="7019343"/>
          </a:xfrm>
          <a:prstGeom prst="rect">
            <a:avLst/>
          </a:prstGeom>
        </p:spPr>
      </p:pic>
      <p:sp>
        <p:nvSpPr>
          <p:cNvPr id="81" name="Rounded Rectangle 80"/>
          <p:cNvSpPr/>
          <p:nvPr/>
        </p:nvSpPr>
        <p:spPr>
          <a:xfrm>
            <a:off x="383177" y="7429500"/>
            <a:ext cx="4942773" cy="2286000"/>
          </a:xfrm>
          <a:prstGeom prst="roundRect">
            <a:avLst/>
          </a:prstGeom>
          <a:solidFill>
            <a:srgbClr val="2F7D55"/>
          </a:solidFill>
          <a:ln>
            <a:solidFill>
              <a:srgbClr val="195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FFFFFF"/>
                </a:solidFill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INSIGHT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FFFFFF"/>
                </a:solidFill>
              </a:defRPr>
            </a:pPr>
            <a:endParaRPr lang="en-GB" sz="2400" b="1" dirty="0">
              <a:solidFill>
                <a:srgbClr val="FFFFFF"/>
              </a:solidFill>
              <a:latin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FFFFFF"/>
                </a:solidFill>
              </a:defRPr>
            </a:pP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Projected revenue is not enough to fully fund the budget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55320" y="1714500"/>
            <a:ext cx="4907280" cy="1216952"/>
          </a:xfrm>
          <a:prstGeom prst="roundRect">
            <a:avLst/>
          </a:prstGeom>
          <a:noFill/>
          <a:ln>
            <a:solidFill>
              <a:srgbClr val="145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4: Can projected revenue realistically fund the budget?</a:t>
            </a:r>
          </a:p>
        </p:txBody>
      </p:sp>
    </p:spTree>
    <p:extLst>
      <p:ext uri="{BB962C8B-B14F-4D97-AF65-F5344CB8AC3E}">
        <p14:creationId xmlns:p14="http://schemas.microsoft.com/office/powerpoint/2010/main" val="434264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24"/>
    </mc:Choice>
    <mc:Fallback xmlns="">
      <p:transition spd="slow" advTm="1124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DC15A4-4390-0B52-5D3E-9F1B919DC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5" name="Rectangle 84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96B8A48-C331-1CF4-0CF9-C1F53234549F}"/>
              </a:ext>
            </a:extLst>
          </p:cNvPr>
          <p:cNvSpPr txBox="1"/>
          <p:nvPr/>
        </p:nvSpPr>
        <p:spPr>
          <a:xfrm>
            <a:off x="296781" y="0"/>
            <a:ext cx="5581904" cy="90220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The Budget vs Cost of Living</a:t>
            </a:r>
            <a:endParaRPr kumimoji="0" lang="en-US" sz="3600" b="1" i="0" u="none" strike="noStrike" kern="1200" cap="none" spc="599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Impac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76B158-AAD3-C8D0-4675-8CD602974449}"/>
              </a:ext>
            </a:extLst>
          </p:cNvPr>
          <p:cNvSpPr txBox="1"/>
          <p:nvPr/>
        </p:nvSpPr>
        <p:spPr>
          <a:xfrm>
            <a:off x="515983" y="3079786"/>
            <a:ext cx="5118100" cy="381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232323"/>
                </a:solidFill>
              </a:defRPr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+mj-lt"/>
              </a:rPr>
              <a:t>Inflation reduces the real value of wages, household income and public spending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Lilita One" panose="020B0604020202020204" charset="0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232323"/>
                </a:solidFill>
              </a:defRPr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232323"/>
              </a:solidFill>
              <a:effectLst/>
              <a:uLnTx/>
              <a:uFillTx/>
              <a:latin typeface="Lilita One" panose="020B06040202020202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232323"/>
                </a:solidFill>
              </a:defRPr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Lilita One" panose="020B0604020202020204" charset="0"/>
              </a:rPr>
              <a:t>•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+mj-lt"/>
              </a:rPr>
              <a:t>Food inflation reached over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Lilita One" panose="020B0604020202020204" charset="0"/>
              </a:rPr>
              <a:t>39%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+mj-lt"/>
              </a:rPr>
              <a:t>in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Lilita One" panose="020B0604020202020204" charset="0"/>
              </a:rPr>
              <a:t> 2024</a:t>
            </a:r>
            <a:b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Lilita One" panose="020B0604020202020204" charset="0"/>
              </a:rPr>
            </a:b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232323"/>
              </a:solidFill>
              <a:effectLst/>
              <a:uLnTx/>
              <a:uFillTx/>
              <a:latin typeface="Lilita One" panose="020B06040202020202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232323"/>
                </a:solidFill>
              </a:defRPr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+mj-lt"/>
              </a:rPr>
              <a:t>• Even a bigger budget may not feel like relief if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Lilita One" panose="020B0604020202020204" charset="0"/>
              </a:rPr>
              <a:t>food, transport and school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+mj-lt"/>
              </a:rPr>
              <a:t>costs keep rising.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232323"/>
                </a:solidFill>
              </a:defRPr>
            </a:pP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232323"/>
              </a:solidFill>
              <a:effectLst/>
              <a:uLnTx/>
              <a:uFillTx/>
              <a:latin typeface="Lilita One" panose="020B060402020202020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FE31C2-72F0-F6C1-8336-6CFD8E5733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6758" y="1562100"/>
            <a:ext cx="10950241" cy="6781799"/>
          </a:xfrm>
          <a:prstGeom prst="rect">
            <a:avLst/>
          </a:prstGeom>
        </p:spPr>
      </p:pic>
      <p:sp>
        <p:nvSpPr>
          <p:cNvPr id="88" name="Rounded Rectangle 87"/>
          <p:cNvSpPr/>
          <p:nvPr/>
        </p:nvSpPr>
        <p:spPr>
          <a:xfrm>
            <a:off x="296781" y="7661369"/>
            <a:ext cx="5556504" cy="2165820"/>
          </a:xfrm>
          <a:prstGeom prst="roundRect">
            <a:avLst/>
          </a:prstGeom>
          <a:solidFill>
            <a:srgbClr val="2F7D55"/>
          </a:solidFill>
          <a:ln>
            <a:solidFill>
              <a:srgbClr val="195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FFFFFF"/>
                </a:solidFill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INSIGHT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FFFFFF"/>
                </a:solidFill>
              </a:defRPr>
            </a:pPr>
            <a:endParaRPr lang="en-GB" sz="2400" b="1" dirty="0">
              <a:solidFill>
                <a:srgbClr val="FFFFFF"/>
              </a:solidFill>
              <a:latin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FFFFFF"/>
                </a:solidFill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Inflation turns a big budget into a smaller benefit for households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15983" y="1333500"/>
            <a:ext cx="5118100" cy="1314992"/>
          </a:xfrm>
          <a:prstGeom prst="roundRect">
            <a:avLst/>
          </a:prstGeom>
          <a:noFill/>
          <a:ln>
            <a:solidFill>
              <a:srgbClr val="145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5: What does the budget mean for ordinary Nigerians after inflation?</a:t>
            </a:r>
          </a:p>
        </p:txBody>
      </p:sp>
    </p:spTree>
    <p:extLst>
      <p:ext uri="{BB962C8B-B14F-4D97-AF65-F5344CB8AC3E}">
        <p14:creationId xmlns:p14="http://schemas.microsoft.com/office/powerpoint/2010/main" val="3190801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24"/>
    </mc:Choice>
    <mc:Fallback xmlns="">
      <p:transition spd="slow" advTm="1124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AEB98F-DB95-BF88-C239-5B8AE65DB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5" name="Rectangle 84">
            <a:extLst>
              <a:ext uri="{FF2B5EF4-FFF2-40B4-BE49-F238E27FC236}">
                <a16:creationId xmlns:a16="http://schemas.microsoft.com/office/drawing/2014/main" id="{2194FE39-25BB-E569-F7BB-2C3F7E3902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00BA1544-9304-B56B-3A69-373539C27532}"/>
              </a:ext>
            </a:extLst>
          </p:cNvPr>
          <p:cNvSpPr txBox="1"/>
          <p:nvPr/>
        </p:nvSpPr>
        <p:spPr>
          <a:xfrm>
            <a:off x="678180" y="38101"/>
            <a:ext cx="4038600" cy="1295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GB" sz="3600" b="1" dirty="0"/>
              <a:t>What This Means for Nigerians…</a:t>
            </a:r>
            <a:endParaRPr lang="en-US" sz="3600" b="1" spc="599" dirty="0">
              <a:sym typeface="Impac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33059E-3C0C-6E5D-1F54-9E8A4E5FBB1A}"/>
              </a:ext>
            </a:extLst>
          </p:cNvPr>
          <p:cNvSpPr txBox="1"/>
          <p:nvPr/>
        </p:nvSpPr>
        <p:spPr>
          <a:xfrm>
            <a:off x="609600" y="3067957"/>
            <a:ext cx="5454396" cy="497114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GB" sz="2400" dirty="0">
                <a:latin typeface="Lilita One" panose="020B0604020202020204" charset="0"/>
              </a:rPr>
              <a:t>• </a:t>
            </a:r>
            <a:r>
              <a:rPr lang="en-GB" sz="2400" dirty="0"/>
              <a:t>Reduced purchasing power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GB" sz="2400" dirty="0"/>
              <a:t> 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GB" sz="2400" dirty="0"/>
              <a:t>• Increased financial pressure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GB" sz="2400" dirty="0"/>
              <a:t> 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GB" sz="2400" dirty="0"/>
              <a:t>• Limited access to quality services 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GB" sz="24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GB" sz="2400" dirty="0"/>
              <a:t>• Slower infrastructure development 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GB" sz="24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GB" sz="2400" dirty="0"/>
              <a:t>Despite higher government spending, many citizens are not yet feeling the benefits.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69FC02-46D7-EF27-BD7F-46DE9D85F9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3596" y="571500"/>
            <a:ext cx="11385804" cy="8686800"/>
          </a:xfrm>
          <a:prstGeom prst="rect">
            <a:avLst/>
          </a:prstGeom>
        </p:spPr>
      </p:pic>
      <p:sp>
        <p:nvSpPr>
          <p:cNvPr id="88" name="Rounded Rectangle 87"/>
          <p:cNvSpPr/>
          <p:nvPr/>
        </p:nvSpPr>
        <p:spPr>
          <a:xfrm>
            <a:off x="228600" y="7734300"/>
            <a:ext cx="5486400" cy="2209800"/>
          </a:xfrm>
          <a:prstGeom prst="roundRect">
            <a:avLst/>
          </a:prstGeom>
          <a:solidFill>
            <a:srgbClr val="2F7D55"/>
          </a:solidFill>
          <a:ln>
            <a:solidFill>
              <a:srgbClr val="195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FFFFFF"/>
                </a:solidFill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INSIGHT: Citizen-impact sectors need stronger priority if Nigerians are to feel the budget.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373380" y="1429657"/>
            <a:ext cx="4648200" cy="1295400"/>
          </a:xfrm>
          <a:prstGeom prst="roundRect">
            <a:avLst/>
          </a:prstGeom>
          <a:noFill/>
          <a:ln>
            <a:solidFill>
              <a:srgbClr val="145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6: Are health, education, jobs, and poverty receiving enough attention?</a:t>
            </a:r>
          </a:p>
        </p:txBody>
      </p:sp>
    </p:spTree>
    <p:extLst>
      <p:ext uri="{BB962C8B-B14F-4D97-AF65-F5344CB8AC3E}">
        <p14:creationId xmlns:p14="http://schemas.microsoft.com/office/powerpoint/2010/main" val="1694436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24"/>
    </mc:Choice>
    <mc:Fallback xmlns="">
      <p:transition spd="slow" advTm="1124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0E6E36-45BF-EF56-8EF0-5A819C98C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" name="Rectangle 104">
            <a:extLst>
              <a:ext uri="{FF2B5EF4-FFF2-40B4-BE49-F238E27FC236}">
                <a16:creationId xmlns:a16="http://schemas.microsoft.com/office/drawing/2014/main" id="{5C9B446A-6343-4E56-90BA-061E4DDF0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7" name="Freeform: Shape 106">
            <a:extLst>
              <a:ext uri="{FF2B5EF4-FFF2-40B4-BE49-F238E27FC236}">
                <a16:creationId xmlns:a16="http://schemas.microsoft.com/office/drawing/2014/main" id="{3EC72A1B-03D3-499C-B4BF-AC68EEC22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683509" cy="10287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9" name="Freeform: Shape 108">
            <a:extLst>
              <a:ext uri="{FF2B5EF4-FFF2-40B4-BE49-F238E27FC236}">
                <a16:creationId xmlns:a16="http://schemas.microsoft.com/office/drawing/2014/main" id="{216322C2-3CF0-4D33-BF90-3F384CF6D2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669793" cy="10287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425330D-748A-7C2C-A492-F94514FFB750}"/>
              </a:ext>
            </a:extLst>
          </p:cNvPr>
          <p:cNvSpPr txBox="1"/>
          <p:nvPr/>
        </p:nvSpPr>
        <p:spPr>
          <a:xfrm>
            <a:off x="556641" y="419100"/>
            <a:ext cx="5157216" cy="838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 dirty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Final Insight</a:t>
            </a:r>
            <a:endParaRPr lang="en-US" sz="3600" b="1" kern="1200" spc="599" dirty="0">
              <a:solidFill>
                <a:schemeClr val="tx1"/>
              </a:solidFill>
              <a:latin typeface="Calibri" panose="020F0502020204030204" pitchFamily="34" charset="0"/>
              <a:ea typeface="+mj-ea"/>
              <a:cs typeface="Calibri" panose="020F0502020204030204" pitchFamily="34" charset="0"/>
              <a:sym typeface="Impact"/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93839" y="908685"/>
            <a:ext cx="109728" cy="822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366" y="3665220"/>
            <a:ext cx="5006340" cy="27432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B76FF0-3535-52B8-9607-454D9E2A9415}"/>
              </a:ext>
            </a:extLst>
          </p:cNvPr>
          <p:cNvSpPr txBox="1"/>
          <p:nvPr/>
        </p:nvSpPr>
        <p:spPr>
          <a:xfrm>
            <a:off x="556640" y="2180754"/>
            <a:ext cx="5615559" cy="3429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defRPr sz="1800" b="0">
                <a:solidFill>
                  <a:srgbClr val="232323"/>
                </a:solidFill>
              </a:defRPr>
            </a:pPr>
            <a:endParaRPr sz="2400" dirty="0">
              <a:latin typeface="Lilita One" panose="020B0604020202020204" charset="0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Nigeria is spending more than ever, but the benefits are not fully reaching citizens.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Without deliberate changes, increased government spending may continue to grow on paper while everyday living conditions remain largely unchanged.</a:t>
            </a:r>
          </a:p>
          <a:p>
            <a:pPr>
              <a:defRPr sz="1800" b="0">
                <a:solidFill>
                  <a:srgbClr val="232323"/>
                </a:solidFill>
              </a:defRPr>
            </a:pPr>
            <a:endParaRPr sz="2400" dirty="0">
              <a:latin typeface="Lilita One" panose="020B060402020202020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4CBB9C-066D-2309-BF07-292606115C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9422" y="647700"/>
            <a:ext cx="11478578" cy="7903209"/>
          </a:xfrm>
          <a:prstGeom prst="rect">
            <a:avLst/>
          </a:prstGeom>
        </p:spPr>
      </p:pic>
      <p:sp>
        <p:nvSpPr>
          <p:cNvPr id="114" name="Rounded Rectangle 113"/>
          <p:cNvSpPr/>
          <p:nvPr/>
        </p:nvSpPr>
        <p:spPr>
          <a:xfrm>
            <a:off x="381000" y="7600008"/>
            <a:ext cx="4620578" cy="2267892"/>
          </a:xfrm>
          <a:prstGeom prst="roundRect">
            <a:avLst/>
          </a:prstGeom>
          <a:solidFill>
            <a:srgbClr val="2F7D55"/>
          </a:solidFill>
          <a:ln>
            <a:solidFill>
              <a:srgbClr val="195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2400" dirty="0"/>
              <a:t>FINAL VERDICT: Big spending only matters if it becomes visible improvement in daily life.</a:t>
            </a:r>
          </a:p>
        </p:txBody>
      </p:sp>
    </p:spTree>
    <p:extLst>
      <p:ext uri="{BB962C8B-B14F-4D97-AF65-F5344CB8AC3E}">
        <p14:creationId xmlns:p14="http://schemas.microsoft.com/office/powerpoint/2010/main" val="4061465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24"/>
    </mc:Choice>
    <mc:Fallback xmlns="">
      <p:transition spd="slow" advTm="1124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DE59">
                <a:alpha val="17500"/>
              </a:srgbClr>
            </a:gs>
            <a:gs pos="33333">
              <a:srgbClr val="6CBF00">
                <a:alpha val="11000"/>
              </a:srgbClr>
            </a:gs>
            <a:gs pos="66667">
              <a:srgbClr val="FDC128">
                <a:alpha val="17500"/>
              </a:srgbClr>
            </a:gs>
            <a:gs pos="100000">
              <a:srgbClr val="FF914D">
                <a:alpha val="175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773733" y="9530504"/>
            <a:ext cx="4426307" cy="1512992"/>
          </a:xfrm>
          <a:custGeom>
            <a:avLst/>
            <a:gdLst/>
            <a:ahLst/>
            <a:cxnLst/>
            <a:rect l="l" t="t" r="r" b="b"/>
            <a:pathLst>
              <a:path w="4426307" h="1512992">
                <a:moveTo>
                  <a:pt x="0" y="0"/>
                </a:moveTo>
                <a:lnTo>
                  <a:pt x="4426308" y="0"/>
                </a:lnTo>
                <a:lnTo>
                  <a:pt x="4426308" y="1512992"/>
                </a:lnTo>
                <a:lnTo>
                  <a:pt x="0" y="15129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2" name="TextBox 22"/>
          <p:cNvSpPr txBox="1"/>
          <p:nvPr/>
        </p:nvSpPr>
        <p:spPr>
          <a:xfrm>
            <a:off x="4821129" y="4392929"/>
            <a:ext cx="9905207" cy="150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002"/>
              </a:lnSpc>
            </a:pPr>
            <a:r>
              <a:rPr lang="en-US" sz="11830" spc="496" dirty="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210"/>
    </mc:Choice>
    <mc:Fallback xmlns="">
      <p:transition spd="slow" advTm="721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4298</TotalTime>
  <Words>607</Words>
  <Application>Microsoft Office PowerPoint</Application>
  <PresentationFormat>Custom</PresentationFormat>
  <Paragraphs>111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Impact</vt:lpstr>
      <vt:lpstr>Lilita One</vt:lpstr>
      <vt:lpstr>League Spartan</vt:lpstr>
      <vt:lpstr>Calibri</vt:lpstr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03</dc:title>
  <dc:creator>Abiodun Ajibola</dc:creator>
  <cp:lastModifiedBy>abigailmic22@gmail.com</cp:lastModifiedBy>
  <cp:revision>29</cp:revision>
  <dcterms:created xsi:type="dcterms:W3CDTF">2006-08-16T00:00:00Z</dcterms:created>
  <dcterms:modified xsi:type="dcterms:W3CDTF">2026-06-09T22:44:40Z</dcterms:modified>
  <dc:identifier>DAHAdxGCh8s</dc:identifier>
</cp:coreProperties>
</file>